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5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8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CLASS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17830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</a:t>
            </a:r>
            <a:endParaRPr lang="en-US" sz="5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Roadmap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dirty="0">
                <a:solidFill>
                  <a:srgbClr val="D7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from zero to research-ready — the exact courses to take, the flow to follow, and a real model you’ll build today.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06624" y="5074920"/>
            <a:ext cx="146304" cy="146304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96512" y="5074920"/>
            <a:ext cx="146304" cy="146304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61320" y="4892040"/>
            <a:ext cx="777240" cy="777240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12" name="Image 0" descr="assets/ic_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858" y="5078578"/>
            <a:ext cx="404165" cy="40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class covers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breadth-first, build-as-you-go path into machine learning.</a:t>
            </a:r>
            <a:endParaRPr lang="en-US" sz="1400" dirty="0"/>
          </a:p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a CS degree or heavy math background to start. You need consistency, and a clear order to learn things in — which is exactly what these seven steps give you.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top to bottom. Each step assumes the ones before it, but they overlap in practice — start Python before your math is “perfect,” and start projects during the courses.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572768"/>
            <a:ext cx="5989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883664"/>
            <a:ext cx="676656" cy="676656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8" name="Image 1" descr="assets/ic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205282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</a:t>
            </a:r>
            <a:r>
              <a:rPr lang="en-US" sz="12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Steps 1–3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66560" y="213969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Python, and the data libraries — the tools you compute with.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0" y="3054096"/>
            <a:ext cx="5989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97880" y="3364992"/>
            <a:ext cx="676656" cy="676656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13" name="Image 2" descr="assets/ic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044" y="35341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32369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Machine Learning  </a:t>
            </a:r>
            <a:r>
              <a:rPr lang="en-US" sz="120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Steps 4–5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766560" y="3621024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and Deep Learning specializations — the models themselves.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69280" y="4535424"/>
            <a:ext cx="5989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97880" y="4846320"/>
            <a:ext cx="676656" cy="676656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18" name="Image 3" descr="assets/ic_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044" y="5015484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47183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 </a:t>
            </a:r>
            <a:r>
              <a:rPr lang="en-US" sz="1200" b="1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Steps 6–7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766560" y="510235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 and read papers — how you actually become an engineer.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5321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ECEEFA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5742432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3" name="Image 4" descr="assets/ic_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" y="585673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55321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~6–12 months at a steady part-time pace.  </a:t>
            </a:r>
            <a:r>
              <a:rPr lang="en-US" sz="1250" b="1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intensity.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at a glance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steps, three phases. Follow the arrows — later steps build on earlier ones.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95144"/>
            <a:ext cx="164592" cy="16459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093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822192"/>
            <a:ext cx="164592" cy="16459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6384" y="38770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5349240"/>
            <a:ext cx="164592" cy="16459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5148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54041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240280" y="19659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5B4BE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23160" y="2148840"/>
            <a:ext cx="457200" cy="457200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231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990088" y="2112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42816" y="2148840"/>
            <a:ext cx="420624" cy="420624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0" name="Image 1" descr="assets/ic_m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72" y="2253996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41448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· Calculus · Stats · Prob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504688" y="19659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5B4BE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687568" y="2148840"/>
            <a:ext cx="457200" cy="457200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6875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254496" y="2112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507224" y="2148840"/>
            <a:ext cx="420624" cy="420624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7" name="Image 2" descr="assets/ic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2253996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705856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ML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769096" y="196596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5B4BE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951976" y="2148840"/>
            <a:ext cx="457200" cy="457200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95197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9518904" y="2112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Libraries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10771632" y="2148840"/>
            <a:ext cx="420624" cy="420624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4" name="Image 3" descr="assets/ic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6788" y="2253996"/>
            <a:ext cx="210312" cy="2103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970264" y="2642616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Plotting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864608" y="2368296"/>
            <a:ext cx="566928" cy="274320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37" name="Shape 31"/>
          <p:cNvSpPr/>
          <p:nvPr/>
        </p:nvSpPr>
        <p:spPr>
          <a:xfrm>
            <a:off x="8129016" y="2368296"/>
            <a:ext cx="566928" cy="274320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38" name="Shape 32"/>
          <p:cNvSpPr/>
          <p:nvPr/>
        </p:nvSpPr>
        <p:spPr>
          <a:xfrm>
            <a:off x="2240280" y="3493008"/>
            <a:ext cx="3566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16A9C6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423160" y="3675888"/>
            <a:ext cx="457200" cy="457200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24231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2990088" y="36393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Specialization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5202936" y="3675888"/>
            <a:ext cx="420624" cy="420624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43" name="Image 4" descr="assets/ic_course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092" y="3781044"/>
            <a:ext cx="210312" cy="21031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441448" y="416966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Ng · Coursera · scikit-learn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629400" y="3493008"/>
            <a:ext cx="3566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16A9C6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812280" y="3675888"/>
            <a:ext cx="457200" cy="457200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68122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7379208" y="36393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Specialization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9592056" y="3675888"/>
            <a:ext cx="420624" cy="420624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50" name="Image 5" descr="assets/ic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212" y="3781044"/>
            <a:ext cx="210312" cy="21031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830568" y="416966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→ Transformers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5852160" y="3895344"/>
            <a:ext cx="566928" cy="274320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53" name="Shape 45"/>
          <p:cNvSpPr/>
          <p:nvPr/>
        </p:nvSpPr>
        <p:spPr>
          <a:xfrm>
            <a:off x="2240280" y="5020056"/>
            <a:ext cx="3566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D8942A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2423160" y="5202936"/>
            <a:ext cx="457200" cy="457200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55" name="Text 47"/>
          <p:cNvSpPr/>
          <p:nvPr/>
        </p:nvSpPr>
        <p:spPr>
          <a:xfrm>
            <a:off x="242316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48"/>
          <p:cNvSpPr/>
          <p:nvPr/>
        </p:nvSpPr>
        <p:spPr>
          <a:xfrm>
            <a:off x="2990088" y="5166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1400" dirty="0"/>
          </a:p>
        </p:txBody>
      </p:sp>
      <p:sp>
        <p:nvSpPr>
          <p:cNvPr id="57" name="Shape 49"/>
          <p:cNvSpPr/>
          <p:nvPr/>
        </p:nvSpPr>
        <p:spPr>
          <a:xfrm>
            <a:off x="5202936" y="5202936"/>
            <a:ext cx="420624" cy="420624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58" name="Image 6" descr="assets/ic_laptop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8092" y="5308092"/>
            <a:ext cx="210312" cy="210312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2441448" y="569671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Kaggle · GitHub</a:t>
            </a:r>
            <a:endParaRPr lang="en-US" sz="950" dirty="0"/>
          </a:p>
        </p:txBody>
      </p:sp>
      <p:sp>
        <p:nvSpPr>
          <p:cNvPr id="60" name="Shape 51"/>
          <p:cNvSpPr/>
          <p:nvPr/>
        </p:nvSpPr>
        <p:spPr>
          <a:xfrm>
            <a:off x="6629400" y="5020056"/>
            <a:ext cx="3566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D8942A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6812280" y="5202936"/>
            <a:ext cx="457200" cy="457200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62" name="Text 53"/>
          <p:cNvSpPr/>
          <p:nvPr/>
        </p:nvSpPr>
        <p:spPr>
          <a:xfrm>
            <a:off x="681228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3" name="Text 54"/>
          <p:cNvSpPr/>
          <p:nvPr/>
        </p:nvSpPr>
        <p:spPr>
          <a:xfrm>
            <a:off x="7379208" y="5166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Papers</a:t>
            </a:r>
            <a:endParaRPr lang="en-US" sz="1400" dirty="0"/>
          </a:p>
        </p:txBody>
      </p:sp>
      <p:sp>
        <p:nvSpPr>
          <p:cNvPr id="64" name="Shape 55"/>
          <p:cNvSpPr/>
          <p:nvPr/>
        </p:nvSpPr>
        <p:spPr>
          <a:xfrm>
            <a:off x="9592056" y="5202936"/>
            <a:ext cx="420624" cy="420624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65" name="Image 7" descr="assets/ic_pa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212" y="5308092"/>
            <a:ext cx="210312" cy="210312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6830568" y="569671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Papers with Code</a:t>
            </a:r>
            <a:endParaRPr lang="en-US" sz="950" dirty="0"/>
          </a:p>
        </p:txBody>
      </p:sp>
      <p:sp>
        <p:nvSpPr>
          <p:cNvPr id="67" name="Shape 57"/>
          <p:cNvSpPr/>
          <p:nvPr/>
        </p:nvSpPr>
        <p:spPr>
          <a:xfrm>
            <a:off x="5852160" y="5422392"/>
            <a:ext cx="566928" cy="274320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68" name="Shape 58"/>
          <p:cNvSpPr/>
          <p:nvPr/>
        </p:nvSpPr>
        <p:spPr>
          <a:xfrm>
            <a:off x="3246120" y="3081528"/>
            <a:ext cx="274320" cy="384048"/>
          </a:xfrm>
          <a:prstGeom prst="downArrow">
            <a:avLst/>
          </a:prstGeom>
          <a:solidFill>
            <a:srgbClr val="C7C9DE"/>
          </a:solidFill>
          <a:ln/>
        </p:spPr>
      </p:sp>
      <p:sp>
        <p:nvSpPr>
          <p:cNvPr id="69" name="Shape 59"/>
          <p:cNvSpPr/>
          <p:nvPr/>
        </p:nvSpPr>
        <p:spPr>
          <a:xfrm>
            <a:off x="3246120" y="4608576"/>
            <a:ext cx="274320" cy="384048"/>
          </a:xfrm>
          <a:prstGeom prst="downArrow">
            <a:avLst/>
          </a:prstGeom>
          <a:solidFill>
            <a:srgbClr val="C7C9DE"/>
          </a:solidFill>
          <a:ln/>
        </p:spPr>
      </p:sp>
      <p:sp>
        <p:nvSpPr>
          <p:cNvPr id="70" name="Text 6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71" name="Text 6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365760"/>
            <a:ext cx="457200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0" b="1" dirty="0">
                <a:solidFill>
                  <a:srgbClr val="24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4" name="Image 0" descr="assets/ic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50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3566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C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Python, and the data libraries — the bedrock everything else stands 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math foundation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applied math. You don’t need a PhD — you need working fluency in four areas so the algorithms aren’t black boxes.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5321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20240"/>
            <a:ext cx="182880" cy="182880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7922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1579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matrices, dot products.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24688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matrix math under the hood.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8192" y="1627632"/>
            <a:ext cx="55321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64224" y="1920240"/>
            <a:ext cx="182880" cy="182880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7922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1579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gradients, the chain rule.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learn: gradient descent.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55321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346704"/>
            <a:ext cx="182880" cy="182880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218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3584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mean &amp; variance, tests.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389534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and evaluating models.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08192" y="3054096"/>
            <a:ext cx="55321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3346704"/>
            <a:ext cx="182880" cy="182880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218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3584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probability, Bayes’ rule.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389534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under uncertainty; classifiers.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CEEFA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" y="4828032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8" name="Image 0" descr="assets/ic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942332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71600" y="457200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deep? </a:t>
            </a:r>
            <a:r>
              <a:rPr lang="en-US" sz="13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intuition and fluency, not proofs. Learn just-in-time and revisit as concepts come up later — don’t let math become the wall you never get over.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12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Courses to take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6" name="Image 0" descr="assets/ic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667512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81328"/>
            <a:ext cx="69037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64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r>
              <a:rPr lang="en-US" sz="12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free  ·  khanacademy.org/math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free resource to build (or rebuild) math from scratch. Work these tracks, in this order: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697480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670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&amp; Precalculus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language of everything that follows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32369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differential + integral (gradients live here)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31336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8039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Probability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distributions, inference, Bayes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4398264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3708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vectors &amp; matrices — core to all of ML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635240" y="1481328"/>
            <a:ext cx="4005072" cy="1371600"/>
          </a:xfrm>
          <a:prstGeom prst="roundRect">
            <a:avLst>
              <a:gd name="adj" fmla="val 6667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9095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90956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weeks</a:t>
            </a:r>
            <a:endParaRPr lang="en-US" sz="2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B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brush up; a few months if starting cold.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7635240" y="3017520"/>
            <a:ext cx="4005072" cy="2167128"/>
          </a:xfrm>
          <a:prstGeom prst="roundRect">
            <a:avLst>
              <a:gd name="adj" fmla="val 4219"/>
            </a:avLst>
          </a:prstGeom>
          <a:solidFill>
            <a:srgbClr val="F5F6FC"/>
          </a:solidFill>
          <a:ln/>
        </p:spPr>
      </p:sp>
      <p:sp>
        <p:nvSpPr>
          <p:cNvPr id="26" name="Text 23"/>
          <p:cNvSpPr/>
          <p:nvPr/>
        </p:nvSpPr>
        <p:spPr>
          <a:xfrm>
            <a:off x="7882128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INTUITION (OPTIONAL)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82128" y="34930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</a:t>
            </a: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“Essence of Linear Algebra” &amp; “Essence of Calculus” on YouTube. Visual, unforgettable.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882128" y="4343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for ML</a:t>
            </a: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(Imperial College, Coursera) if you prefer it taught in an ML context.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lingua franca of ML — nearly every library, course, and paper uses it. Learn it before the math is even done.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7" name="Image 0" descr="assets/ic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368" y="66092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276856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11" name="Image 1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2364638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167128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control flow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70432" y="247802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for / while, indentation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66160" y="2057400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3730752" y="2276856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16" name="Image 2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34" y="2364638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87952" y="2167128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187952" y="247802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dict, set, tuple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2990088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3209544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1" name="Image 3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3297326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09981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70432" y="341071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import your own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566160" y="2990088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3730752" y="3209544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6" name="Image 4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34" y="3297326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87952" y="309981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OOP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187952" y="341071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922776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30" name="Shape 23"/>
          <p:cNvSpPr/>
          <p:nvPr/>
        </p:nvSpPr>
        <p:spPr>
          <a:xfrm>
            <a:off x="713232" y="4142232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1" name="Image 5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4230014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70432" y="403250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70432" y="434340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&amp; pip for packages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566160" y="3922776"/>
            <a:ext cx="2880360" cy="804672"/>
          </a:xfrm>
          <a:prstGeom prst="roundRect">
            <a:avLst>
              <a:gd name="adj" fmla="val 11364"/>
            </a:avLst>
          </a:prstGeom>
          <a:solidFill>
            <a:srgbClr val="F5F6FC"/>
          </a:solidFill>
          <a:ln/>
        </p:spPr>
      </p:sp>
      <p:sp>
        <p:nvSpPr>
          <p:cNvPr id="35" name="Shape 27"/>
          <p:cNvSpPr/>
          <p:nvPr/>
        </p:nvSpPr>
        <p:spPr>
          <a:xfrm>
            <a:off x="3730752" y="4142232"/>
            <a:ext cx="365760" cy="36576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6" name="Image 6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34" y="4230014"/>
            <a:ext cx="190195" cy="1901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187952" y="403250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4187952" y="434340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you’ll do ML work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720840" y="2057400"/>
            <a:ext cx="4919472" cy="1188720"/>
          </a:xfrm>
          <a:prstGeom prst="roundRect">
            <a:avLst>
              <a:gd name="adj" fmla="val 7692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967728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967728" y="25054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D3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reading and writing everyday scripts. You are not becoming a software engineer yet — just fluent enough to follow ML code.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6720840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write code like this: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6720840" y="3703320"/>
            <a:ext cx="4919472" cy="1828800"/>
          </a:xfrm>
          <a:prstGeom prst="roundRect">
            <a:avLst>
              <a:gd name="adj" fmla="val 3000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6885432" y="3813048"/>
            <a:ext cx="46085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 up a list of names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(names):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[n.strip().title()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</a:t>
            </a: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n]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15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ada "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"linus "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['Ada', 'Linus']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12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Courses to take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6" name="Image 0" descr="assets/ic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368" y="660928"/>
            <a:ext cx="342351" cy="3423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2763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1938528"/>
            <a:ext cx="621792" cy="621792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9" name="Image 1" descr="assets/ic_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09397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2768" y="1773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Everybody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72768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Chuck · free at py4e.com (also on Coursera)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572768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structured start for absolute beginners.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08192" y="162763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45936" y="1938528"/>
            <a:ext cx="621792" cy="621792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15" name="Image 2" descr="assets/ic_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09397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773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Boring Stuff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13232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automatetheboringstuff.com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13232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project-driven, genuinely fun.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299923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3310128"/>
            <a:ext cx="621792" cy="621792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1" name="Image 3" descr="assets/ic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46557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3145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Python Tutorial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72768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docs.python.org/3/tutorial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572768" y="3730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reference once basics click.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108192" y="299923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45936" y="3310128"/>
            <a:ext cx="621792" cy="621792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7" name="Image 4" descr="assets/ic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346557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145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Practice, daily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13232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exercism.org · LeetCode (easy)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7132320" y="3730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reps build real fluency fast.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48640" y="4443984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CEEFA"/>
          </a:solidFill>
          <a:ln/>
        </p:spPr>
      </p:sp>
      <p:sp>
        <p:nvSpPr>
          <p:cNvPr id="32" name="Shape 25"/>
          <p:cNvSpPr/>
          <p:nvPr/>
        </p:nvSpPr>
        <p:spPr>
          <a:xfrm>
            <a:off x="786384" y="4718304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3" name="Image 5" descr="assets/ic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" y="4832604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71600" y="44439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~3–5 weeks. </a:t>
            </a:r>
            <a:r>
              <a:rPr lang="en-US" sz="13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aim for mastery — aim to stop needing to look up basic syntax. The rest you’ll pick up while doing ML.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visualization libraries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model, learn the four libraries you’ll use to load, wrangle, and see your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4924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38528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8" name="Image 0" descr="assets/ic_num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031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2139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arrays and fast vectorized math.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25237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base layer for everything.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8192" y="1572768"/>
            <a:ext cx="534924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64224" y="1938528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14" name="Image 1" descr="assets/ic_pand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10312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5472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205472" y="2139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DataFrames: load, clean, filter, group real data.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05472" y="25237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day-to-day data workhorse.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054096"/>
            <a:ext cx="534924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3419856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0" name="Image 2" descr="assets/ic_matplotli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5844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45920" y="36210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plotting library.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645920" y="40050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essentially any chart.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08192" y="3054096"/>
            <a:ext cx="534924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64224" y="3419856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6" name="Image 3" descr="assets/ic_seabo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58444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05472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205472" y="36210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plots in one line, built on Matplotlib.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205472" y="40050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i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attractive exploration (EDA).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12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Courses to take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6" name="Image 0" descr="assets/ic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667512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17904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learn them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221992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1031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micro-courses: “Pandas” and “Data Visualization” — hands-on in the browser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2935224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281635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“Data Analysis with Python” full course on YouTube (free)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648456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5295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NumPy &amp; Pandas “Getting started” guides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361688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24281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Corey Schafer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definitive Pandas video series on YouTube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02920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ECEEF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029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4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weeks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write this: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92024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28232" y="2029968"/>
            <a:ext cx="50657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pd, seaborn </a:t>
            </a: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"sales.csv"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= df.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</a:t>
            </a:r>
            <a:r>
              <a:rPr lang="en-US" sz="120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"revenue"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lineplot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(data=monthly)  </a:t>
            </a:r>
            <a:r>
              <a:rPr lang="en-US" sz="120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line!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4434840"/>
            <a:ext cx="5376672" cy="1060704"/>
          </a:xfrm>
          <a:prstGeom prst="roundRect">
            <a:avLst>
              <a:gd name="adj" fmla="val 8621"/>
            </a:avLst>
          </a:prstGeom>
          <a:solidFill>
            <a:srgbClr val="ECEEFA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4434840"/>
            <a:ext cx="4937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you’ll repeat forever:  </a:t>
            </a: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clean → group → plot. Master this and real ML feels familiar.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365760"/>
            <a:ext cx="457200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0" b="1" dirty="0">
                <a:solidFill>
                  <a:srgbClr val="24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4" name="Image 0" descr="assets/ic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50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3566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Machine Learning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C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specializations that carry you from linear regression all the way to Transformers.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Specialization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Ng · DeepLearning.AI &amp; Stanford · 3 courses · Python, NumPy &amp; scikit-learn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7" name="Image 0" descr="assets/ic_cours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368" y="66092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courses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185416"/>
            <a:ext cx="402336" cy="402336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98448" y="2011680"/>
            <a:ext cx="5989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ML: Regression &amp; Classification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Linear Regression, Logical Regression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831336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5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4005072"/>
            <a:ext cx="402336" cy="402336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98448" y="3831336"/>
            <a:ext cx="5989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Learning Algorithms (neural networks, decision trees)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4810" y="2935224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5F6FC"/>
          </a:solidFill>
          <a:ln/>
        </p:spPr>
      </p:sp>
      <p:sp>
        <p:nvSpPr>
          <p:cNvPr id="18" name="Shape 15"/>
          <p:cNvSpPr/>
          <p:nvPr/>
        </p:nvSpPr>
        <p:spPr>
          <a:xfrm>
            <a:off x="725978" y="3108960"/>
            <a:ext cx="402336" cy="402336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5978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74618" y="2935224"/>
            <a:ext cx="5989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Learning, Recommenders &amp; Reinforcement Learning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82803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build: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regression, neural networks, clustering and recommenders — from the intuition up.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607808" y="20116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8638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6384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</a:t>
            </a:r>
            <a:endParaRPr lang="en-US" sz="2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~8 hrs / week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607808" y="34290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5F6FC"/>
          </a:solidFill>
          <a:ln/>
        </p:spPr>
      </p:sp>
      <p:sp>
        <p:nvSpPr>
          <p:cNvPr id="26" name="Text 23"/>
          <p:cNvSpPr/>
          <p:nvPr/>
        </p:nvSpPr>
        <p:spPr>
          <a:xfrm>
            <a:off x="7845552" y="35295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
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(math, Python, data libs). Beginner-friendly — audit free.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607808" y="45262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CEEFA"/>
          </a:solidFill>
          <a:ln/>
        </p:spPr>
      </p:sp>
      <p:sp>
        <p:nvSpPr>
          <p:cNvPr id="28" name="Text 25"/>
          <p:cNvSpPr/>
          <p:nvPr/>
        </p:nvSpPr>
        <p:spPr>
          <a:xfrm>
            <a:off x="7845552" y="4626864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
</a:t>
            </a:r>
            <a:r>
              <a:rPr lang="en-US" sz="110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coursera.org/specializations/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machine-learning-introduction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Specialization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Ng · DeepLearning.AI · 5 courses · Python &amp; TensorFlow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7" name="Image 0" descr="assets/ic_tenso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368" y="66092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courses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22376" y="2020824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237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61872" y="19385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Deep Learning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596896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376" y="2679192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2376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61872" y="25968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Deep Nets: tuning, regularization, optimization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255264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F6FC"/>
          </a:solidFill>
          <a:ln/>
        </p:spPr>
      </p:sp>
      <p:sp>
        <p:nvSpPr>
          <p:cNvPr id="18" name="Shape 15"/>
          <p:cNvSpPr/>
          <p:nvPr/>
        </p:nvSpPr>
        <p:spPr>
          <a:xfrm>
            <a:off x="722376" y="3337560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237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61872" y="32552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Machine Learning Projects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913632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F6FC"/>
          </a:solidFill>
          <a:ln/>
        </p:spPr>
      </p:sp>
      <p:sp>
        <p:nvSpPr>
          <p:cNvPr id="22" name="Shape 19"/>
          <p:cNvSpPr/>
          <p:nvPr/>
        </p:nvSpPr>
        <p:spPr>
          <a:xfrm>
            <a:off x="722376" y="3995928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2376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61872" y="39136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(computer vision)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F6FC"/>
          </a:solidFill>
          <a:ln/>
        </p:spPr>
      </p:sp>
      <p:sp>
        <p:nvSpPr>
          <p:cNvPr id="26" name="Shape 23"/>
          <p:cNvSpPr/>
          <p:nvPr/>
        </p:nvSpPr>
        <p:spPr>
          <a:xfrm>
            <a:off x="722376" y="4654296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237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61872" y="4572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(RNNs, LSTMs, Transformers)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5285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build: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recognition, NLP models, and the architectures behind modern AI.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607808" y="1938528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86384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863840" y="2395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months</a:t>
            </a:r>
            <a:endParaRPr lang="en-US" sz="2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~5 hrs / week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7607808" y="335584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6FC"/>
          </a:solidFill>
          <a:ln/>
        </p:spPr>
      </p:sp>
      <p:sp>
        <p:nvSpPr>
          <p:cNvPr id="34" name="Text 31"/>
          <p:cNvSpPr/>
          <p:nvPr/>
        </p:nvSpPr>
        <p:spPr>
          <a:xfrm>
            <a:off x="7845552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
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plus solid Python. Some linear algebra helps.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07808" y="449884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CEEFA"/>
          </a:solidFill>
          <a:ln/>
        </p:spPr>
      </p:sp>
      <p:sp>
        <p:nvSpPr>
          <p:cNvPr id="36" name="Text 33"/>
          <p:cNvSpPr/>
          <p:nvPr/>
        </p:nvSpPr>
        <p:spPr>
          <a:xfrm>
            <a:off x="7845552" y="46177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
</a:t>
            </a:r>
            <a:r>
              <a:rPr lang="en-US" sz="110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coursera.org/specializations/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365760"/>
            <a:ext cx="457200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0" b="1" dirty="0">
                <a:solidFill>
                  <a:srgbClr val="24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4" name="Image 0" descr="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50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3566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to Expert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C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hand you the map. Projects and papers are what actually make you an engineer.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cements learning like shipping something. Your projects are also your portfolio — what employers actually look at.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7" name="Image 0" descr="assets/ic_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6675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ladder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69037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340864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F5C46B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14600" y="2103120"/>
            <a:ext cx="4800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“Getting Started”: Titanic survival, house-price regression, MNIST digits.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69037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346704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D8942A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34670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514600" y="3108960"/>
            <a:ext cx="4800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 project on data you care about: collect → clean → model → evaluate → write it up.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69037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" y="4352544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B4771F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35254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514600" y="4114800"/>
            <a:ext cx="4800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paper, fine-tune a pretrained model, or deploy one as a small app or API.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635240" y="2103120"/>
            <a:ext cx="4005072" cy="1847088"/>
          </a:xfrm>
          <a:prstGeom prst="roundRect">
            <a:avLst>
              <a:gd name="adj" fmla="val 4950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882128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PROJECTS LIVE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82128" y="2578608"/>
            <a:ext cx="310896" cy="31089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24" name="Image 1" descr="assets/ic_kag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080" y="2648560"/>
            <a:ext cx="170993" cy="17099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02752" y="2542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competitions &amp; datasets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882128" y="2990088"/>
            <a:ext cx="310896" cy="31089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27" name="Image 2" descr="assets/ic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2080" y="3060040"/>
            <a:ext cx="170993" cy="17099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02752" y="2953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put every project here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882128" y="3401568"/>
            <a:ext cx="310896" cy="31089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0" name="Image 3" descr="assets/ic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080" y="3471520"/>
            <a:ext cx="170993" cy="17099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302752" y="3364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README or blog per project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635240" y="4114800"/>
            <a:ext cx="4005072" cy="1389888"/>
          </a:xfrm>
          <a:prstGeom prst="roundRect">
            <a:avLst>
              <a:gd name="adj" fmla="val 6579"/>
            </a:avLst>
          </a:prstGeom>
          <a:solidFill>
            <a:srgbClr val="ECEEFA"/>
          </a:solidFill>
          <a:ln/>
        </p:spPr>
      </p:sp>
      <p:sp>
        <p:nvSpPr>
          <p:cNvPr id="33" name="Shape 27"/>
          <p:cNvSpPr/>
          <p:nvPr/>
        </p:nvSpPr>
        <p:spPr>
          <a:xfrm>
            <a:off x="7863840" y="4315968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4" name="Image 4" descr="assets/ic_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140" y="4430268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63840" y="4791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over quantity.  </a:t>
            </a: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finished, well-documented projects beat fifteen half-done notebooks.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research papers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monthly. Papers are how you go from using ML to understanding and advancing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658368" cy="658368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7" name="Image 0" descr="assets/ic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6675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45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one — the 3-pass method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084832"/>
            <a:ext cx="6903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340864"/>
            <a:ext cx="420624" cy="420624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25420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figures, conclusion.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even read this?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127248"/>
            <a:ext cx="6903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3383280"/>
            <a:ext cx="420624" cy="420624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2369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84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argument; skip heavy proofs.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3236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they do, and why?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69664"/>
            <a:ext cx="6903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425696"/>
            <a:ext cx="420624" cy="420624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240" y="4425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71600" y="46268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or re-implement the key idea.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83280" y="4279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actually get it?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635240" y="2084832"/>
            <a:ext cx="40050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882128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read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82128" y="2651760"/>
            <a:ext cx="402336" cy="40233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0" name="Image 1" descr="assets/ic_arx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2752344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394192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arxiv.org — newest papers, free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882128" y="3218688"/>
            <a:ext cx="402336" cy="40233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3" name="Image 2" descr="assets/ic_magn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3319272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94192" y="3172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with Code  </a:t>
            </a: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paper + code + benchmarks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882128" y="3785616"/>
            <a:ext cx="402336" cy="402336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6" name="Image 3" descr="assets/ic_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886200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394192" y="3739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landmarks  </a:t>
            </a: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e.g. “Attention Is All You Need”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7635240" y="4526280"/>
            <a:ext cx="4005072" cy="969264"/>
          </a:xfrm>
          <a:prstGeom prst="roundRect">
            <a:avLst>
              <a:gd name="adj" fmla="val 9434"/>
            </a:avLst>
          </a:prstGeom>
          <a:solidFill>
            <a:srgbClr val="ECEEFA"/>
          </a:solidFill>
          <a:ln/>
        </p:spPr>
      </p:sp>
      <p:sp>
        <p:nvSpPr>
          <p:cNvPr id="39" name="Text 33"/>
          <p:cNvSpPr/>
          <p:nvPr/>
        </p:nvSpPr>
        <p:spPr>
          <a:xfrm>
            <a:off x="7863840" y="4526280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code open.  </a:t>
            </a: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beats re-reading, every time.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timeline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6–12 months part-time. The steps overlap on purpose — don’t wait to finish one to begin the next.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78892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1460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6720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9288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4548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116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70204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772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18032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0600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658600" y="1828800"/>
            <a:ext cx="0" cy="3255264"/>
          </a:xfrm>
          <a:prstGeom prst="line">
            <a:avLst/>
          </a:prstGeom>
          <a:noFill/>
          <a:ln w="12700">
            <a:solidFill>
              <a:srgbClr val="E9EA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84280" y="1490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1874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Math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88920" y="1938528"/>
            <a:ext cx="1847850" cy="237744"/>
          </a:xfrm>
          <a:prstGeom prst="roundRect">
            <a:avLst>
              <a:gd name="adj" fmla="val 19231"/>
            </a:avLst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23408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Python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28060" y="2404872"/>
            <a:ext cx="1108710" cy="237744"/>
          </a:xfrm>
          <a:prstGeom prst="roundRect">
            <a:avLst>
              <a:gd name="adj" fmla="val 19231"/>
            </a:avLst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Data libraries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67200" y="2871216"/>
            <a:ext cx="739140" cy="237744"/>
          </a:xfrm>
          <a:prstGeom prst="roundRect">
            <a:avLst>
              <a:gd name="adj" fmla="val 19231"/>
            </a:avLst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32735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ML Specialization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06340" y="3337560"/>
            <a:ext cx="1478280" cy="237744"/>
          </a:xfrm>
          <a:prstGeom prst="roundRect">
            <a:avLst>
              <a:gd name="adj" fmla="val 19231"/>
            </a:avLst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3739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DL Specialization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84620" y="3803904"/>
            <a:ext cx="1847850" cy="237744"/>
          </a:xfrm>
          <a:prstGeom prst="roundRect">
            <a:avLst>
              <a:gd name="adj" fmla="val 19231"/>
            </a:avLst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48640" y="4206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Build projects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06340" y="4270248"/>
            <a:ext cx="6652260" cy="237744"/>
          </a:xfrm>
          <a:prstGeom prst="roundRect">
            <a:avLst>
              <a:gd name="adj" fmla="val 19231"/>
            </a:avLst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56132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→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46725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Read papers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223760" y="4736592"/>
            <a:ext cx="4434840" cy="237744"/>
          </a:xfrm>
          <a:prstGeom prst="roundRect">
            <a:avLst>
              <a:gd name="adj" fmla="val 19231"/>
            </a:avLst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0561320" y="4718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→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48640" y="54406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CEEFA"/>
          </a:solidFill>
          <a:ln/>
        </p:spPr>
      </p:sp>
      <p:sp>
        <p:nvSpPr>
          <p:cNvPr id="37" name="Shape 34"/>
          <p:cNvSpPr/>
          <p:nvPr/>
        </p:nvSpPr>
        <p:spPr>
          <a:xfrm>
            <a:off x="786384" y="5660136"/>
            <a:ext cx="420624" cy="420624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8" name="Image 1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765292"/>
            <a:ext cx="210312" cy="21031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298448" y="544068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on purpose:  </a:t>
            </a:r>
            <a:r>
              <a:rPr lang="en-US" sz="12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Python while finishing math, and start small projects the moment you begin the ML specialization.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402336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2424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4" name="Image 0" descr="assets/ic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240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TUTORIAL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34290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ML model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C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iris flowers end-to-end in about 30 lines of Python — the entire ML pipeline in miniature.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1 — Setup &amp; the problem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F5F6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37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four flower measurements, predict the species — a 3-class classification problem, and the “hello world” of machine learning.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5727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Set up your environment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0" y="1883664"/>
            <a:ext cx="5971032" cy="1097280"/>
          </a:xfrm>
          <a:prstGeom prst="roundRect">
            <a:avLst>
              <a:gd name="adj" fmla="val 5000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33872" y="1993392"/>
            <a:ext cx="56601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r>
              <a:rPr lang="en-US" sz="11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Win: .venv\Scripts\activate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</a:t>
            </a:r>
            <a:r>
              <a:rPr lang="en-US" sz="115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pandas seaborn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Load the built-in Iris dataset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91672" cy="1691640"/>
          </a:xfrm>
          <a:prstGeom prst="roundRect">
            <a:avLst>
              <a:gd name="adj" fmla="val 3243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3232" y="4041648"/>
            <a:ext cx="107807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</a:t>
            </a: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sklearn.datasets </a:t>
            </a: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</a:t>
            </a: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(as_frame=</a:t>
            </a:r>
            <a:r>
              <a:rPr lang="en-US" sz="120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data.frame          </a:t>
            </a:r>
            <a:r>
              <a:rPr lang="en-US" sz="120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150 rows, 4 features + target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20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(df.shape)            </a:t>
            </a:r>
            <a:r>
              <a:rPr lang="en-US" sz="120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(150, 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magn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2 — Explore &amp; visualize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at your data before modeling — check the distribution and whether the classes actually separate.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6949440" cy="2926080"/>
          </a:xfrm>
          <a:prstGeom prst="roundRect">
            <a:avLst>
              <a:gd name="adj" fmla="val 1875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2167128"/>
            <a:ext cx="663854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    </a:t>
            </a:r>
            <a:r>
              <a:rPr lang="en-US" sz="12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summary stats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25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"target"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</a:t>
            </a:r>
            <a:r>
              <a:rPr lang="en-US" sz="12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 each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 </a:t>
            </a:r>
            <a:r>
              <a:rPr lang="en-US" sz="12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</a:t>
            </a:r>
            <a:r>
              <a:rPr lang="en-US" sz="12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pairplot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(df, hue=</a:t>
            </a:r>
            <a:r>
              <a:rPr lang="en-US" sz="1250" dirty="0">
                <a:solidFill>
                  <a:srgbClr val="F5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"target"</a:t>
            </a:r>
            <a:r>
              <a:rPr lang="en-US" sz="12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 the three classes form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separate clusters?  (they do)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2057400"/>
            <a:ext cx="386791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the classes separate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73046" y="4150712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1" name="Shape 8"/>
          <p:cNvSpPr/>
          <p:nvPr/>
        </p:nvSpPr>
        <p:spPr>
          <a:xfrm>
            <a:off x="8498915" y="4287773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2" name="Shape 9"/>
          <p:cNvSpPr/>
          <p:nvPr/>
        </p:nvSpPr>
        <p:spPr>
          <a:xfrm>
            <a:off x="8297071" y="4241777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3" name="Shape 10"/>
          <p:cNvSpPr/>
          <p:nvPr/>
        </p:nvSpPr>
        <p:spPr>
          <a:xfrm>
            <a:off x="8458130" y="4243121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4" name="Shape 11"/>
          <p:cNvSpPr/>
          <p:nvPr/>
        </p:nvSpPr>
        <p:spPr>
          <a:xfrm>
            <a:off x="8816280" y="4130640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5" name="Shape 12"/>
          <p:cNvSpPr/>
          <p:nvPr/>
        </p:nvSpPr>
        <p:spPr>
          <a:xfrm>
            <a:off x="8624594" y="4089890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6" name="Shape 13"/>
          <p:cNvSpPr/>
          <p:nvPr/>
        </p:nvSpPr>
        <p:spPr>
          <a:xfrm>
            <a:off x="8600195" y="4302342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7" name="Shape 14"/>
          <p:cNvSpPr/>
          <p:nvPr/>
        </p:nvSpPr>
        <p:spPr>
          <a:xfrm>
            <a:off x="8706407" y="4240521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8" name="Shape 15"/>
          <p:cNvSpPr/>
          <p:nvPr/>
        </p:nvSpPr>
        <p:spPr>
          <a:xfrm>
            <a:off x="8597859" y="4241009"/>
            <a:ext cx="118872" cy="118872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9" name="Shape 16"/>
          <p:cNvSpPr/>
          <p:nvPr/>
        </p:nvSpPr>
        <p:spPr>
          <a:xfrm>
            <a:off x="9856035" y="3803383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0" name="Shape 17"/>
          <p:cNvSpPr/>
          <p:nvPr/>
        </p:nvSpPr>
        <p:spPr>
          <a:xfrm>
            <a:off x="9768370" y="3983802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1" name="Shape 18"/>
          <p:cNvSpPr/>
          <p:nvPr/>
        </p:nvSpPr>
        <p:spPr>
          <a:xfrm>
            <a:off x="9637201" y="3679833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2" name="Shape 19"/>
          <p:cNvSpPr/>
          <p:nvPr/>
        </p:nvSpPr>
        <p:spPr>
          <a:xfrm>
            <a:off x="9762670" y="3728269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3" name="Shape 20"/>
          <p:cNvSpPr/>
          <p:nvPr/>
        </p:nvSpPr>
        <p:spPr>
          <a:xfrm>
            <a:off x="9658382" y="3678285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4" name="Shape 21"/>
          <p:cNvSpPr/>
          <p:nvPr/>
        </p:nvSpPr>
        <p:spPr>
          <a:xfrm>
            <a:off x="9648511" y="3706958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5" name="Shape 22"/>
          <p:cNvSpPr/>
          <p:nvPr/>
        </p:nvSpPr>
        <p:spPr>
          <a:xfrm>
            <a:off x="9870462" y="3740412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6" name="Shape 23"/>
          <p:cNvSpPr/>
          <p:nvPr/>
        </p:nvSpPr>
        <p:spPr>
          <a:xfrm>
            <a:off x="9817994" y="3709450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7" name="Shape 24"/>
          <p:cNvSpPr/>
          <p:nvPr/>
        </p:nvSpPr>
        <p:spPr>
          <a:xfrm>
            <a:off x="9746293" y="3694503"/>
            <a:ext cx="118872" cy="118872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28" name="Shape 25"/>
          <p:cNvSpPr/>
          <p:nvPr/>
        </p:nvSpPr>
        <p:spPr>
          <a:xfrm>
            <a:off x="10744218" y="2953023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29" name="Shape 26"/>
          <p:cNvSpPr/>
          <p:nvPr/>
        </p:nvSpPr>
        <p:spPr>
          <a:xfrm>
            <a:off x="10800528" y="3020009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0" name="Shape 27"/>
          <p:cNvSpPr/>
          <p:nvPr/>
        </p:nvSpPr>
        <p:spPr>
          <a:xfrm>
            <a:off x="10792238" y="3160970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18616" y="3081517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86612" y="3075229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3" name="Shape 30"/>
          <p:cNvSpPr/>
          <p:nvPr/>
        </p:nvSpPr>
        <p:spPr>
          <a:xfrm>
            <a:off x="10702637" y="3052606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4" name="Shape 31"/>
          <p:cNvSpPr/>
          <p:nvPr/>
        </p:nvSpPr>
        <p:spPr>
          <a:xfrm>
            <a:off x="10385680" y="2937409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5" name="Shape 32"/>
          <p:cNvSpPr/>
          <p:nvPr/>
        </p:nvSpPr>
        <p:spPr>
          <a:xfrm>
            <a:off x="10547372" y="3074658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6" name="Shape 33"/>
          <p:cNvSpPr/>
          <p:nvPr/>
        </p:nvSpPr>
        <p:spPr>
          <a:xfrm>
            <a:off x="10785647" y="3006520"/>
            <a:ext cx="118872" cy="118872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37" name="Shape 34"/>
          <p:cNvSpPr/>
          <p:nvPr/>
        </p:nvSpPr>
        <p:spPr>
          <a:xfrm>
            <a:off x="8229600" y="4754880"/>
            <a:ext cx="3200400" cy="0"/>
          </a:xfrm>
          <a:prstGeom prst="line">
            <a:avLst/>
          </a:prstGeom>
          <a:noFill/>
          <a:ln w="15875">
            <a:solidFill>
              <a:srgbClr val="C7C9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29600" y="2606040"/>
            <a:ext cx="0" cy="2148840"/>
          </a:xfrm>
          <a:prstGeom prst="line">
            <a:avLst/>
          </a:prstGeom>
          <a:noFill/>
          <a:ln w="15875">
            <a:solidFill>
              <a:srgbClr val="C7C9D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29600" y="4791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→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3 — Train &amp; evaluate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data, train a model, then measure accuracy on rows it has never seen.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949440" cy="3246120"/>
          </a:xfrm>
          <a:prstGeom prst="roundRect">
            <a:avLst>
              <a:gd name="adj" fmla="val 1690"/>
            </a:avLst>
          </a:prstGeom>
          <a:solidFill>
            <a:srgbClr val="191938"/>
          </a:solidFill>
          <a:ln w="12700">
            <a:solidFill>
              <a:srgbClr val="34346B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2075688"/>
            <a:ext cx="663854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sklearn.model_selection </a:t>
            </a: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sklearn.ensemble </a:t>
            </a: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sklearn.metrics </a:t>
            </a:r>
            <a:r>
              <a:rPr lang="en-US" sz="1150" dirty="0">
                <a:solidFill>
                  <a:srgbClr val="4FD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data.data, data.target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</a:t>
            </a:r>
            <a:r>
              <a:rPr lang="en-US" sz="1150" dirty="0">
                <a:solidFill>
                  <a:srgbClr val="F2A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150" dirty="0">
                <a:solidFill>
                  <a:srgbClr val="F2A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(Xtr, ytr)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preds = model.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(Xte)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A99B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r>
              <a:rPr lang="en-US" sz="1150" dirty="0">
                <a:solidFill>
                  <a:srgbClr val="C9C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(yte, preds))  </a:t>
            </a:r>
            <a:r>
              <a:rPr lang="en-US" sz="1150" dirty="0">
                <a:solidFill>
                  <a:srgbClr val="7A7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~0.97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1965960"/>
            <a:ext cx="4005072" cy="960120"/>
          </a:xfrm>
          <a:prstGeom prst="roundRect">
            <a:avLst>
              <a:gd name="adj" fmla="val 9524"/>
            </a:avLst>
          </a:prstGeom>
          <a:solidFill>
            <a:srgbClr val="F5F6FC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2221992"/>
            <a:ext cx="457200" cy="457200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10" name="Image 1" descr="assets/ic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0" y="23362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49056" y="2093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449056" y="24048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judge a model on data it trained 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635240" y="3063240"/>
            <a:ext cx="4005072" cy="960120"/>
          </a:xfrm>
          <a:prstGeom prst="roundRect">
            <a:avLst>
              <a:gd name="adj" fmla="val 9524"/>
            </a:avLst>
          </a:prstGeom>
          <a:solidFill>
            <a:srgbClr val="F5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863840" y="3319272"/>
            <a:ext cx="457200" cy="457200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15" name="Image 2" descr="assets/ic_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343357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49056" y="319125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→ predict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449056" y="3502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scikit-learn pattern for almost every model.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35240" y="4160520"/>
            <a:ext cx="4005072" cy="960120"/>
          </a:xfrm>
          <a:prstGeom prst="roundRect">
            <a:avLst>
              <a:gd name="adj" fmla="val 9524"/>
            </a:avLst>
          </a:prstGeom>
          <a:solidFill>
            <a:srgbClr val="F5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863840" y="4416552"/>
            <a:ext cx="457200" cy="457200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20" name="Image 3" descr="assets/ic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140" y="45308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49056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449056" y="4599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÷ total. ~97% here.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What you just did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26464" y="1042416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~30 lines you touched the whole roadmap in miniature.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903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56232"/>
            <a:ext cx="475488" cy="475488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8" name="Image 1" descr="assets/ic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751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737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977640" y="1938528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ECEEFA"/>
          </a:solidFill>
          <a:ln/>
        </p:spPr>
      </p:sp>
      <p:sp>
        <p:nvSpPr>
          <p:cNvPr id="11" name="Text 7"/>
          <p:cNvSpPr/>
          <p:nvPr/>
        </p:nvSpPr>
        <p:spPr>
          <a:xfrm>
            <a:off x="3977640" y="1938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349240" y="17373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inspected a real dataset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578608"/>
            <a:ext cx="6903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2697480"/>
            <a:ext cx="475488" cy="475488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15" name="Image 2" descr="assets/ic_seab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1635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578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3977640" y="2779776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ECEEFA"/>
          </a:solidFill>
          <a:ln/>
        </p:spPr>
      </p:sp>
      <p:sp>
        <p:nvSpPr>
          <p:cNvPr id="18" name="Text 13"/>
          <p:cNvSpPr/>
          <p:nvPr/>
        </p:nvSpPr>
        <p:spPr>
          <a:xfrm>
            <a:off x="3977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349240" y="25786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it to check separability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419856"/>
            <a:ext cx="6903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3538728"/>
            <a:ext cx="475488" cy="475488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22" name="Image 3" descr="assets/ic_sci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6576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4198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3977640" y="3621024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ECEEFA"/>
          </a:solidFill>
          <a:ln/>
        </p:spPr>
      </p:sp>
      <p:sp>
        <p:nvSpPr>
          <p:cNvPr id="25" name="Text 19"/>
          <p:cNvSpPr/>
          <p:nvPr/>
        </p:nvSpPr>
        <p:spPr>
          <a:xfrm>
            <a:off x="3977640" y="36210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349240" y="34198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evaluated a classifier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635240" y="1737360"/>
            <a:ext cx="4005072" cy="2340864"/>
          </a:xfrm>
          <a:prstGeom prst="roundRect">
            <a:avLst>
              <a:gd name="adj" fmla="val 3906"/>
            </a:avLst>
          </a:prstGeom>
          <a:solidFill>
            <a:srgbClr val="13132E"/>
          </a:solidFill>
          <a:ln/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882128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882128" y="224028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LogisticRegression</a:t>
            </a:r>
            <a:endParaRPr lang="en-US" sz="12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confusion matrix</a:t>
            </a:r>
            <a:endParaRPr lang="en-US" sz="12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n_estimators</a:t>
            </a:r>
            <a:endParaRPr lang="en-US" sz="12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Kaggle dataset instead</a:t>
            </a:r>
            <a:endParaRPr lang="en-US" sz="1200" dirty="0"/>
          </a:p>
          <a:p>
            <a:pPr marL="177800" indent="-177800" algn="l">
              <a:buSzPct val="100000"/>
              <a:buChar char="•"/>
            </a:pPr>
            <a:r>
              <a:rPr lang="en-US" sz="1200" dirty="0">
                <a:solidFill>
                  <a:srgbClr val="E6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all in a function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46177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CEEFA"/>
          </a:solidFill>
          <a:ln/>
        </p:spPr>
      </p:sp>
      <p:sp>
        <p:nvSpPr>
          <p:cNvPr id="31" name="Shape 25"/>
          <p:cNvSpPr/>
          <p:nvPr/>
        </p:nvSpPr>
        <p:spPr>
          <a:xfrm>
            <a:off x="786384" y="4882896"/>
            <a:ext cx="457200" cy="457200"/>
          </a:xfrm>
          <a:prstGeom prst="ellipse">
            <a:avLst/>
          </a:prstGeom>
          <a:solidFill>
            <a:srgbClr val="16A9C6"/>
          </a:solidFill>
          <a:ln/>
        </p:spPr>
      </p:sp>
      <p:pic>
        <p:nvPicPr>
          <p:cNvPr id="32" name="Image 4" descr="assets/ic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4997196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71600" y="46177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ML project is this same loop, scaled up:  </a:t>
            </a:r>
            <a:r>
              <a:rPr lang="en-US" sz="1300" b="1" i="1" dirty="0">
                <a:solidFill>
                  <a:srgbClr val="1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explore → model → evaluate → improve.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how to avoid them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1773936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7" name="Image 1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88236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72768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“Tutorial hell” — endless watching, never building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858000" y="1883664"/>
            <a:ext cx="457200" cy="237744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10" name="Shape 6"/>
          <p:cNvSpPr/>
          <p:nvPr/>
        </p:nvSpPr>
        <p:spPr>
          <a:xfrm>
            <a:off x="7452360" y="1773936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11" name="Image 2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88823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1572768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tiny things from day one.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2514600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86384" y="2715768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15" name="Image 3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83006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514600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until your math is “perfect”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858000" y="2825496"/>
            <a:ext cx="457200" cy="237744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18" name="Shape 12"/>
          <p:cNvSpPr/>
          <p:nvPr/>
        </p:nvSpPr>
        <p:spPr>
          <a:xfrm>
            <a:off x="7452360" y="2715768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19" name="Image 4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283006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6720" y="2514600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just-in-time; revisit as needed.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3456432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86384" y="3657600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23" name="Image 5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77190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3456432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fundamentals to jump straight to LLMs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858000" y="3767328"/>
            <a:ext cx="457200" cy="237744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26" name="Shape 18"/>
          <p:cNvSpPr/>
          <p:nvPr/>
        </p:nvSpPr>
        <p:spPr>
          <a:xfrm>
            <a:off x="7452360" y="3657600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27" name="Image 6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377190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046720" y="3456432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are what make advanced topics click.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548640" y="4398264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86384" y="4599432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1" name="Image 7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713732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417320" y="4398264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certificates but no portfolio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6858000" y="4709160"/>
            <a:ext cx="457200" cy="237744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34" name="Shape 24"/>
          <p:cNvSpPr/>
          <p:nvPr/>
        </p:nvSpPr>
        <p:spPr>
          <a:xfrm>
            <a:off x="7452360" y="4599432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35" name="Image 8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4713732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046720" y="4398264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projects to GitHub — that’s the real credential.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548640" y="5340096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786384" y="5541264"/>
            <a:ext cx="457200" cy="457200"/>
          </a:xfrm>
          <a:prstGeom prst="ellipse">
            <a:avLst/>
          </a:prstGeom>
          <a:solidFill>
            <a:srgbClr val="D8942A"/>
          </a:solidFill>
          <a:ln/>
        </p:spPr>
      </p:sp>
      <p:pic>
        <p:nvPicPr>
          <p:cNvPr id="39" name="Image 9" descr="assets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655564"/>
            <a:ext cx="228600" cy="2286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417320" y="5340096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your chapter 1 to someone’s chapter 20</a:t>
            </a:r>
            <a:endParaRPr lang="en-US" sz="1300" dirty="0"/>
          </a:p>
        </p:txBody>
      </p:sp>
      <p:sp>
        <p:nvSpPr>
          <p:cNvPr id="41" name="Shape 29"/>
          <p:cNvSpPr/>
          <p:nvPr/>
        </p:nvSpPr>
        <p:spPr>
          <a:xfrm>
            <a:off x="6858000" y="5650992"/>
            <a:ext cx="457200" cy="237744"/>
          </a:xfrm>
          <a:prstGeom prst="rightArrow">
            <a:avLst/>
          </a:prstGeom>
          <a:solidFill>
            <a:srgbClr val="C7C9DE"/>
          </a:solidFill>
          <a:ln/>
        </p:spPr>
      </p:sp>
      <p:sp>
        <p:nvSpPr>
          <p:cNvPr id="42" name="Shape 30"/>
          <p:cNvSpPr/>
          <p:nvPr/>
        </p:nvSpPr>
        <p:spPr>
          <a:xfrm>
            <a:off x="7452360" y="5541264"/>
            <a:ext cx="457200" cy="457200"/>
          </a:xfrm>
          <a:prstGeom prst="ellipse">
            <a:avLst/>
          </a:prstGeom>
          <a:solidFill>
            <a:srgbClr val="5B4BE0"/>
          </a:solidFill>
          <a:ln/>
        </p:spPr>
      </p:sp>
      <p:pic>
        <p:nvPicPr>
          <p:cNvPr id="43" name="Image 10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5655564"/>
            <a:ext cx="228600" cy="22860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046720" y="5340096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speed. Everyone starts here.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658368" cy="65836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" name="Image 0" descr="assets/ic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76656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6464" y="438912"/>
            <a:ext cx="1036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&amp; where to go next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58064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" y="17373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index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41248" y="2258568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1488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khanacademy.org/math · 3Blue1Brown (YT)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1248" y="2715768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6060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py4e.com · automatetheboringstuff.com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1248" y="3172968"/>
            <a:ext cx="146304" cy="146304"/>
          </a:xfrm>
          <a:prstGeom prst="ellipse">
            <a:avLst/>
          </a:prstGeom>
          <a:solidFill>
            <a:srgbClr val="5B4BE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0632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libs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kaggle.com/learn · freeCodeCamp (YT)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1248" y="3630168"/>
            <a:ext cx="146304" cy="146304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5204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Spec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coursera.org/specializations/machine-learning-introduction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" y="4087368"/>
            <a:ext cx="146304" cy="146304"/>
          </a:xfrm>
          <a:prstGeom prst="ellipse">
            <a:avLst/>
          </a:prstGeom>
          <a:solidFill>
            <a:srgbClr val="16A9C6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9776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Spec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coursera.org/specializations/deep-learning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" y="4544568"/>
            <a:ext cx="146304" cy="146304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4348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· github.com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" y="5001768"/>
            <a:ext cx="146304" cy="146304"/>
          </a:xfrm>
          <a:prstGeom prst="ellipse">
            <a:avLst/>
          </a:prstGeom>
          <a:solidFill>
            <a:srgbClr val="D8942A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48920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  </a:t>
            </a:r>
            <a:r>
              <a:rPr lang="en-US" sz="11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 · paperswithcode.com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class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0" y="1993392"/>
            <a:ext cx="245059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03136" y="2212848"/>
            <a:ext cx="603504" cy="603504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4" name="Image 1" descr="assets/ic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2" y="2363724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84848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4848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Computer Vision · RL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189720" y="1993392"/>
            <a:ext cx="245059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409176" y="2212848"/>
            <a:ext cx="603504" cy="603504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9" name="Image 2" descr="assets/ic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052" y="2363724"/>
            <a:ext cx="301752" cy="30175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390888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9390888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Hugging Face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583680" y="3730752"/>
            <a:ext cx="245059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803136" y="3950208"/>
            <a:ext cx="603504" cy="603504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4" name="Image 3" descr="assets/ic_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012" y="4101084"/>
            <a:ext cx="301752" cy="3017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784848" y="4645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784848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Docker, FastAPI, cloud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189720" y="3730752"/>
            <a:ext cx="245059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  <a:effectLst>
            <a:outerShdw blurRad="114300" dist="38100" dir="5400000" algn="bl" rotWithShape="0">
              <a:srgbClr val="8A8AB8">
                <a:alpha val="2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409176" y="3950208"/>
            <a:ext cx="603504" cy="603504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39" name="Image 4" descr="assets/ic_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052" y="4101084"/>
            <a:ext cx="301752" cy="30175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390888" y="4645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9390888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85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GenAI &amp; agents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Engineer Roadmap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5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157276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384048" cy="384048"/>
          </a:xfrm>
          <a:prstGeom prst="ellipse">
            <a:avLst/>
          </a:prstGeom>
          <a:solidFill>
            <a:srgbClr val="5B4BE0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libraries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498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Specialization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384048" cy="384048"/>
          </a:xfrm>
          <a:prstGeom prst="ellipse">
            <a:avLst/>
          </a:prstGeom>
          <a:solidFill>
            <a:srgbClr val="16A9C6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Specialization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429000"/>
            <a:ext cx="384048" cy="384048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papers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440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C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start was yesterday. The second best is right now.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561320" y="1600200"/>
            <a:ext cx="822960" cy="822960"/>
          </a:xfrm>
          <a:prstGeom prst="ellipse">
            <a:avLst/>
          </a:prstGeom>
          <a:solidFill>
            <a:srgbClr val="D8942A"/>
          </a:solidFill>
          <a:ln/>
          <a:effectLst>
            <a:outerShdw blurRad="88900" dist="25400" dir="5400000" algn="bl" rotWithShape="0">
              <a:srgbClr val="6E6E9E">
                <a:alpha val="30000"/>
              </a:srgbClr>
            </a:outerShdw>
          </a:effectLst>
        </p:spPr>
      </p:sp>
      <p:pic>
        <p:nvPicPr>
          <p:cNvPr id="27" name="Image 0" descr="assets/ic_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7060" y="18059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2544</Words>
  <Application>Microsoft Office PowerPoint</Application>
  <PresentationFormat>Widescreen</PresentationFormat>
  <Paragraphs>436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Machine Learning Engineer Roadmap</dc:title>
  <dc:subject>PptxGenJS Presentation</dc:subject>
  <dc:creator>ML Engineer Roadmap</dc:creator>
  <cp:lastModifiedBy>viswanadha dadireddy</cp:lastModifiedBy>
  <cp:revision>2</cp:revision>
  <dcterms:created xsi:type="dcterms:W3CDTF">2026-08-09T01:51:52Z</dcterms:created>
  <dcterms:modified xsi:type="dcterms:W3CDTF">2026-08-09T15:13:54Z</dcterms:modified>
</cp:coreProperties>
</file>